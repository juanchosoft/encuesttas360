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0" d="100"/>
          <a:sy n="70" d="100"/>
        </p:scale>
        <p:origin x="660"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s-CO"/>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editar el estilo de subtítulo del patrón</a:t>
            </a:r>
            <a:endParaRPr lang="es-CO"/>
          </a:p>
        </p:txBody>
      </p:sp>
      <p:sp>
        <p:nvSpPr>
          <p:cNvPr id="4" name="Marcador de fecha 3"/>
          <p:cNvSpPr>
            <a:spLocks noGrp="1"/>
          </p:cNvSpPr>
          <p:nvPr>
            <p:ph type="dt" sz="half" idx="10"/>
          </p:nvPr>
        </p:nvSpPr>
        <p:spPr/>
        <p:txBody>
          <a:bodyPr/>
          <a:lstStyle/>
          <a:p>
            <a:fld id="{2547219C-CFEE-4140-8870-95A7999F48CC}" type="datetimeFigureOut">
              <a:rPr lang="es-CO" smtClean="0"/>
              <a:t>18/05/2025</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AA52369F-841F-4A11-B82B-9D4173FFFD16}" type="slidenum">
              <a:rPr lang="es-CO" smtClean="0"/>
              <a:t>‹Nº›</a:t>
            </a:fld>
            <a:endParaRPr lang="es-CO"/>
          </a:p>
        </p:txBody>
      </p:sp>
    </p:spTree>
    <p:extLst>
      <p:ext uri="{BB962C8B-B14F-4D97-AF65-F5344CB8AC3E}">
        <p14:creationId xmlns:p14="http://schemas.microsoft.com/office/powerpoint/2010/main" val="1586879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CO"/>
          </a:p>
        </p:txBody>
      </p:sp>
      <p:sp>
        <p:nvSpPr>
          <p:cNvPr id="3" name="Marcador de contenido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O"/>
          </a:p>
        </p:txBody>
      </p:sp>
      <p:sp>
        <p:nvSpPr>
          <p:cNvPr id="4" name="Marcador de fecha 3"/>
          <p:cNvSpPr>
            <a:spLocks noGrp="1"/>
          </p:cNvSpPr>
          <p:nvPr>
            <p:ph type="dt" sz="half" idx="10"/>
          </p:nvPr>
        </p:nvSpPr>
        <p:spPr/>
        <p:txBody>
          <a:bodyPr/>
          <a:lstStyle/>
          <a:p>
            <a:fld id="{2547219C-CFEE-4140-8870-95A7999F48CC}" type="datetimeFigureOut">
              <a:rPr lang="es-CO" smtClean="0"/>
              <a:t>18/05/2025</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AA52369F-841F-4A11-B82B-9D4173FFFD16}" type="slidenum">
              <a:rPr lang="es-CO" smtClean="0"/>
              <a:t>‹Nº›</a:t>
            </a:fld>
            <a:endParaRPr lang="es-CO"/>
          </a:p>
        </p:txBody>
      </p:sp>
    </p:spTree>
    <p:extLst>
      <p:ext uri="{BB962C8B-B14F-4D97-AF65-F5344CB8AC3E}">
        <p14:creationId xmlns:p14="http://schemas.microsoft.com/office/powerpoint/2010/main" val="34531384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CO"/>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Editar el estilo de texto del patrón</a:t>
            </a:r>
          </a:p>
        </p:txBody>
      </p:sp>
      <p:sp>
        <p:nvSpPr>
          <p:cNvPr id="4" name="Marcador de fecha 3"/>
          <p:cNvSpPr>
            <a:spLocks noGrp="1"/>
          </p:cNvSpPr>
          <p:nvPr>
            <p:ph type="dt" sz="half" idx="10"/>
          </p:nvPr>
        </p:nvSpPr>
        <p:spPr/>
        <p:txBody>
          <a:bodyPr/>
          <a:lstStyle/>
          <a:p>
            <a:fld id="{2547219C-CFEE-4140-8870-95A7999F48CC}" type="datetimeFigureOut">
              <a:rPr lang="es-CO" smtClean="0"/>
              <a:t>18/05/2025</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AA52369F-841F-4A11-B82B-9D4173FFFD16}" type="slidenum">
              <a:rPr lang="es-CO" smtClean="0"/>
              <a:t>‹Nº›</a:t>
            </a:fld>
            <a:endParaRPr lang="es-CO"/>
          </a:p>
        </p:txBody>
      </p:sp>
    </p:spTree>
    <p:extLst>
      <p:ext uri="{BB962C8B-B14F-4D97-AF65-F5344CB8AC3E}">
        <p14:creationId xmlns:p14="http://schemas.microsoft.com/office/powerpoint/2010/main" val="1090672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CO"/>
          </a:p>
        </p:txBody>
      </p:sp>
      <p:sp>
        <p:nvSpPr>
          <p:cNvPr id="3" name="Marcador de contenido 2"/>
          <p:cNvSpPr>
            <a:spLocks noGrp="1"/>
          </p:cNvSpPr>
          <p:nvPr>
            <p:ph sz="half" idx="1"/>
          </p:nvPr>
        </p:nvSpPr>
        <p:spPr>
          <a:xfrm>
            <a:off x="838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O"/>
          </a:p>
        </p:txBody>
      </p:sp>
      <p:sp>
        <p:nvSpPr>
          <p:cNvPr id="4" name="Marcador de contenido 3"/>
          <p:cNvSpPr>
            <a:spLocks noGrp="1"/>
          </p:cNvSpPr>
          <p:nvPr>
            <p:ph sz="half" idx="2"/>
          </p:nvPr>
        </p:nvSpPr>
        <p:spPr>
          <a:xfrm>
            <a:off x="6172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O"/>
          </a:p>
        </p:txBody>
      </p:sp>
      <p:sp>
        <p:nvSpPr>
          <p:cNvPr id="5" name="Marcador de fecha 4"/>
          <p:cNvSpPr>
            <a:spLocks noGrp="1"/>
          </p:cNvSpPr>
          <p:nvPr>
            <p:ph type="dt" sz="half" idx="10"/>
          </p:nvPr>
        </p:nvSpPr>
        <p:spPr/>
        <p:txBody>
          <a:bodyPr/>
          <a:lstStyle/>
          <a:p>
            <a:fld id="{2547219C-CFEE-4140-8870-95A7999F48CC}" type="datetimeFigureOut">
              <a:rPr lang="es-CO" smtClean="0"/>
              <a:t>18/05/2025</a:t>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AA52369F-841F-4A11-B82B-9D4173FFFD16}" type="slidenum">
              <a:rPr lang="es-CO" smtClean="0"/>
              <a:t>‹Nº›</a:t>
            </a:fld>
            <a:endParaRPr lang="es-CO"/>
          </a:p>
        </p:txBody>
      </p:sp>
    </p:spTree>
    <p:extLst>
      <p:ext uri="{BB962C8B-B14F-4D97-AF65-F5344CB8AC3E}">
        <p14:creationId xmlns:p14="http://schemas.microsoft.com/office/powerpoint/2010/main" val="15712570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CO"/>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O"/>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O"/>
          </a:p>
        </p:txBody>
      </p:sp>
      <p:sp>
        <p:nvSpPr>
          <p:cNvPr id="7" name="Marcador de fecha 6"/>
          <p:cNvSpPr>
            <a:spLocks noGrp="1"/>
          </p:cNvSpPr>
          <p:nvPr>
            <p:ph type="dt" sz="half" idx="10"/>
          </p:nvPr>
        </p:nvSpPr>
        <p:spPr/>
        <p:txBody>
          <a:bodyPr/>
          <a:lstStyle/>
          <a:p>
            <a:fld id="{2547219C-CFEE-4140-8870-95A7999F48CC}" type="datetimeFigureOut">
              <a:rPr lang="es-CO" smtClean="0"/>
              <a:t>18/05/2025</a:t>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AA52369F-841F-4A11-B82B-9D4173FFFD16}" type="slidenum">
              <a:rPr lang="es-CO" smtClean="0"/>
              <a:t>‹Nº›</a:t>
            </a:fld>
            <a:endParaRPr lang="es-CO"/>
          </a:p>
        </p:txBody>
      </p:sp>
    </p:spTree>
    <p:extLst>
      <p:ext uri="{BB962C8B-B14F-4D97-AF65-F5344CB8AC3E}">
        <p14:creationId xmlns:p14="http://schemas.microsoft.com/office/powerpoint/2010/main" val="37051838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CO"/>
          </a:p>
        </p:txBody>
      </p:sp>
      <p:sp>
        <p:nvSpPr>
          <p:cNvPr id="3" name="Marcador de fecha 2"/>
          <p:cNvSpPr>
            <a:spLocks noGrp="1"/>
          </p:cNvSpPr>
          <p:nvPr>
            <p:ph type="dt" sz="half" idx="10"/>
          </p:nvPr>
        </p:nvSpPr>
        <p:spPr/>
        <p:txBody>
          <a:bodyPr/>
          <a:lstStyle/>
          <a:p>
            <a:fld id="{2547219C-CFEE-4140-8870-95A7999F48CC}" type="datetimeFigureOut">
              <a:rPr lang="es-CO" smtClean="0"/>
              <a:t>18/05/2025</a:t>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AA52369F-841F-4A11-B82B-9D4173FFFD16}" type="slidenum">
              <a:rPr lang="es-CO" smtClean="0"/>
              <a:t>‹Nº›</a:t>
            </a:fld>
            <a:endParaRPr lang="es-CO"/>
          </a:p>
        </p:txBody>
      </p:sp>
    </p:spTree>
    <p:extLst>
      <p:ext uri="{BB962C8B-B14F-4D97-AF65-F5344CB8AC3E}">
        <p14:creationId xmlns:p14="http://schemas.microsoft.com/office/powerpoint/2010/main" val="8850459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2547219C-CFEE-4140-8870-95A7999F48CC}" type="datetimeFigureOut">
              <a:rPr lang="es-CO" smtClean="0"/>
              <a:t>18/05/2025</a:t>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AA52369F-841F-4A11-B82B-9D4173FFFD16}" type="slidenum">
              <a:rPr lang="es-CO" smtClean="0"/>
              <a:t>‹Nº›</a:t>
            </a:fld>
            <a:endParaRPr lang="es-CO"/>
          </a:p>
        </p:txBody>
      </p:sp>
    </p:spTree>
    <p:extLst>
      <p:ext uri="{BB962C8B-B14F-4D97-AF65-F5344CB8AC3E}">
        <p14:creationId xmlns:p14="http://schemas.microsoft.com/office/powerpoint/2010/main" val="16638641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CO"/>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O"/>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2547219C-CFEE-4140-8870-95A7999F48CC}" type="datetimeFigureOut">
              <a:rPr lang="es-CO" smtClean="0"/>
              <a:t>18/05/2025</a:t>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AA52369F-841F-4A11-B82B-9D4173FFFD16}" type="slidenum">
              <a:rPr lang="es-CO" smtClean="0"/>
              <a:t>‹Nº›</a:t>
            </a:fld>
            <a:endParaRPr lang="es-CO"/>
          </a:p>
        </p:txBody>
      </p:sp>
    </p:spTree>
    <p:extLst>
      <p:ext uri="{BB962C8B-B14F-4D97-AF65-F5344CB8AC3E}">
        <p14:creationId xmlns:p14="http://schemas.microsoft.com/office/powerpoint/2010/main" val="20702383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2547219C-CFEE-4140-8870-95A7999F48CC}" type="datetimeFigureOut">
              <a:rPr lang="es-CO" smtClean="0"/>
              <a:t>18/05/2025</a:t>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AA52369F-841F-4A11-B82B-9D4173FFFD16}" type="slidenum">
              <a:rPr lang="es-CO" smtClean="0"/>
              <a:t>‹Nº›</a:t>
            </a:fld>
            <a:endParaRPr lang="es-CO"/>
          </a:p>
        </p:txBody>
      </p:sp>
    </p:spTree>
    <p:extLst>
      <p:ext uri="{BB962C8B-B14F-4D97-AF65-F5344CB8AC3E}">
        <p14:creationId xmlns:p14="http://schemas.microsoft.com/office/powerpoint/2010/main" val="10793291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CO"/>
          </a:p>
        </p:txBody>
      </p:sp>
      <p:sp>
        <p:nvSpPr>
          <p:cNvPr id="3" name="Marcador de texto vertical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O"/>
          </a:p>
        </p:txBody>
      </p:sp>
      <p:sp>
        <p:nvSpPr>
          <p:cNvPr id="4" name="Marcador de fecha 3"/>
          <p:cNvSpPr>
            <a:spLocks noGrp="1"/>
          </p:cNvSpPr>
          <p:nvPr>
            <p:ph type="dt" sz="half" idx="10"/>
          </p:nvPr>
        </p:nvSpPr>
        <p:spPr/>
        <p:txBody>
          <a:bodyPr/>
          <a:lstStyle/>
          <a:p>
            <a:fld id="{2547219C-CFEE-4140-8870-95A7999F48CC}" type="datetimeFigureOut">
              <a:rPr lang="es-CO" smtClean="0"/>
              <a:t>18/05/2025</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AA52369F-841F-4A11-B82B-9D4173FFFD16}" type="slidenum">
              <a:rPr lang="es-CO" smtClean="0"/>
              <a:t>‹Nº›</a:t>
            </a:fld>
            <a:endParaRPr lang="es-CO"/>
          </a:p>
        </p:txBody>
      </p:sp>
    </p:spTree>
    <p:extLst>
      <p:ext uri="{BB962C8B-B14F-4D97-AF65-F5344CB8AC3E}">
        <p14:creationId xmlns:p14="http://schemas.microsoft.com/office/powerpoint/2010/main" val="27051704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CO"/>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O"/>
          </a:p>
        </p:txBody>
      </p:sp>
      <p:sp>
        <p:nvSpPr>
          <p:cNvPr id="4" name="Marcador de fecha 3"/>
          <p:cNvSpPr>
            <a:spLocks noGrp="1"/>
          </p:cNvSpPr>
          <p:nvPr>
            <p:ph type="dt" sz="half" idx="10"/>
          </p:nvPr>
        </p:nvSpPr>
        <p:spPr/>
        <p:txBody>
          <a:bodyPr/>
          <a:lstStyle/>
          <a:p>
            <a:fld id="{2547219C-CFEE-4140-8870-95A7999F48CC}" type="datetimeFigureOut">
              <a:rPr lang="es-CO" smtClean="0"/>
              <a:t>18/05/2025</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AA52369F-841F-4A11-B82B-9D4173FFFD16}" type="slidenum">
              <a:rPr lang="es-CO" smtClean="0"/>
              <a:t>‹Nº›</a:t>
            </a:fld>
            <a:endParaRPr lang="es-CO"/>
          </a:p>
        </p:txBody>
      </p:sp>
    </p:spTree>
    <p:extLst>
      <p:ext uri="{BB962C8B-B14F-4D97-AF65-F5344CB8AC3E}">
        <p14:creationId xmlns:p14="http://schemas.microsoft.com/office/powerpoint/2010/main" val="34020519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47219C-CFEE-4140-8870-95A7999F48CC}" type="datetimeFigureOut">
              <a:rPr lang="es-CO" smtClean="0"/>
              <a:t>18/05/2025</a:t>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52369F-841F-4A11-B82B-9D4173FFFD16}" type="slidenum">
              <a:rPr lang="es-CO" smtClean="0"/>
              <a:t>‹Nº›</a:t>
            </a:fld>
            <a:endParaRPr lang="es-CO"/>
          </a:p>
        </p:txBody>
      </p:sp>
    </p:spTree>
    <p:extLst>
      <p:ext uri="{BB962C8B-B14F-4D97-AF65-F5344CB8AC3E}">
        <p14:creationId xmlns:p14="http://schemas.microsoft.com/office/powerpoint/2010/main" val="27819526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p:cNvPicPr>
            <a:picLocks noChangeAspect="1"/>
          </p:cNvPicPr>
          <p:nvPr/>
        </p:nvPicPr>
        <p:blipFill>
          <a:blip r:embed="rId2"/>
          <a:stretch>
            <a:fillRect/>
          </a:stretch>
        </p:blipFill>
        <p:spPr>
          <a:xfrm>
            <a:off x="507526" y="285279"/>
            <a:ext cx="1104900" cy="742950"/>
          </a:xfrm>
          <a:prstGeom prst="rect">
            <a:avLst/>
          </a:prstGeom>
          <a:ln>
            <a:solidFill>
              <a:schemeClr val="tx1"/>
            </a:solidFill>
          </a:ln>
        </p:spPr>
      </p:pic>
      <p:sp>
        <p:nvSpPr>
          <p:cNvPr id="6" name="CuadroTexto 5"/>
          <p:cNvSpPr txBox="1"/>
          <p:nvPr/>
        </p:nvSpPr>
        <p:spPr>
          <a:xfrm>
            <a:off x="1719615" y="336587"/>
            <a:ext cx="4476467" cy="954107"/>
          </a:xfrm>
          <a:prstGeom prst="rect">
            <a:avLst/>
          </a:prstGeom>
          <a:noFill/>
        </p:spPr>
        <p:txBody>
          <a:bodyPr wrap="square" rtlCol="0">
            <a:spAutoFit/>
          </a:bodyPr>
          <a:lstStyle/>
          <a:p>
            <a:r>
              <a:rPr lang="es-CO" sz="1400" dirty="0" smtClean="0"/>
              <a:t>Tomar la data descriptiva de las emociones por estrato socioeconómico y multiplicarla por el peso especifico del estrato en la muestra y sumar este resultado de los 6 estratos</a:t>
            </a:r>
            <a:endParaRPr lang="es-CO" sz="1400" dirty="0"/>
          </a:p>
        </p:txBody>
      </p:sp>
      <p:pic>
        <p:nvPicPr>
          <p:cNvPr id="7" name="Imagen 6"/>
          <p:cNvPicPr>
            <a:picLocks noChangeAspect="1"/>
          </p:cNvPicPr>
          <p:nvPr/>
        </p:nvPicPr>
        <p:blipFill>
          <a:blip r:embed="rId3"/>
          <a:stretch>
            <a:fillRect/>
          </a:stretch>
        </p:blipFill>
        <p:spPr>
          <a:xfrm>
            <a:off x="507526" y="1362359"/>
            <a:ext cx="1104900" cy="666750"/>
          </a:xfrm>
          <a:prstGeom prst="rect">
            <a:avLst/>
          </a:prstGeom>
          <a:ln>
            <a:solidFill>
              <a:schemeClr val="tx1"/>
            </a:solidFill>
          </a:ln>
        </p:spPr>
      </p:pic>
      <p:sp>
        <p:nvSpPr>
          <p:cNvPr id="8" name="CuadroTexto 7"/>
          <p:cNvSpPr txBox="1"/>
          <p:nvPr/>
        </p:nvSpPr>
        <p:spPr>
          <a:xfrm>
            <a:off x="1710518" y="1325027"/>
            <a:ext cx="4244455" cy="954107"/>
          </a:xfrm>
          <a:prstGeom prst="rect">
            <a:avLst/>
          </a:prstGeom>
          <a:noFill/>
        </p:spPr>
        <p:txBody>
          <a:bodyPr wrap="square" rtlCol="0">
            <a:spAutoFit/>
          </a:bodyPr>
          <a:lstStyle/>
          <a:p>
            <a:r>
              <a:rPr lang="es-CO" sz="1400" dirty="0" smtClean="0"/>
              <a:t>Tomar la data descriptiva de las emociones por rangos de edades del Estudio y multiplicarla por el peso especifico del rango de edad de la muestra y sumar este resultado de los 4 rangos</a:t>
            </a:r>
            <a:endParaRPr lang="es-CO" sz="1400" dirty="0"/>
          </a:p>
        </p:txBody>
      </p:sp>
      <p:pic>
        <p:nvPicPr>
          <p:cNvPr id="10" name="Imagen 9"/>
          <p:cNvPicPr>
            <a:picLocks noChangeAspect="1"/>
          </p:cNvPicPr>
          <p:nvPr/>
        </p:nvPicPr>
        <p:blipFill>
          <a:blip r:embed="rId4"/>
          <a:stretch>
            <a:fillRect/>
          </a:stretch>
        </p:blipFill>
        <p:spPr>
          <a:xfrm>
            <a:off x="639201" y="2904998"/>
            <a:ext cx="850647" cy="535321"/>
          </a:xfrm>
          <a:prstGeom prst="rect">
            <a:avLst/>
          </a:prstGeom>
          <a:ln>
            <a:solidFill>
              <a:schemeClr val="tx1"/>
            </a:solidFill>
          </a:ln>
        </p:spPr>
      </p:pic>
      <p:sp>
        <p:nvSpPr>
          <p:cNvPr id="12" name="CuadroTexto 11"/>
          <p:cNvSpPr txBox="1"/>
          <p:nvPr/>
        </p:nvSpPr>
        <p:spPr>
          <a:xfrm>
            <a:off x="1710519" y="2350491"/>
            <a:ext cx="4244455" cy="1169551"/>
          </a:xfrm>
          <a:prstGeom prst="rect">
            <a:avLst/>
          </a:prstGeom>
          <a:noFill/>
        </p:spPr>
        <p:txBody>
          <a:bodyPr wrap="square" rtlCol="0">
            <a:spAutoFit/>
          </a:bodyPr>
          <a:lstStyle/>
          <a:p>
            <a:r>
              <a:rPr lang="es-CO" sz="1400" dirty="0" smtClean="0"/>
              <a:t>Tomar la data descriptiva de las emociones para los estratos 1-2-3 del Estudio y multiplicarla por el peso especifico de estos estratos en la muestra y sumar este resultado de los 3 estratos, se hace el mismo procedimiento con los estratos 4-5-6</a:t>
            </a:r>
            <a:endParaRPr lang="es-CO" sz="1400" dirty="0"/>
          </a:p>
        </p:txBody>
      </p:sp>
      <p:pic>
        <p:nvPicPr>
          <p:cNvPr id="13" name="Imagen 12"/>
          <p:cNvPicPr>
            <a:picLocks noChangeAspect="1"/>
          </p:cNvPicPr>
          <p:nvPr/>
        </p:nvPicPr>
        <p:blipFill>
          <a:blip r:embed="rId5"/>
          <a:stretch>
            <a:fillRect/>
          </a:stretch>
        </p:blipFill>
        <p:spPr>
          <a:xfrm>
            <a:off x="516624" y="3787982"/>
            <a:ext cx="1104900" cy="600075"/>
          </a:xfrm>
          <a:prstGeom prst="rect">
            <a:avLst/>
          </a:prstGeom>
          <a:ln>
            <a:solidFill>
              <a:schemeClr val="tx1"/>
            </a:solidFill>
          </a:ln>
        </p:spPr>
      </p:pic>
      <p:sp>
        <p:nvSpPr>
          <p:cNvPr id="14" name="CuadroTexto 13"/>
          <p:cNvSpPr txBox="1"/>
          <p:nvPr/>
        </p:nvSpPr>
        <p:spPr>
          <a:xfrm>
            <a:off x="1719617" y="3538395"/>
            <a:ext cx="4572001" cy="954107"/>
          </a:xfrm>
          <a:prstGeom prst="rect">
            <a:avLst/>
          </a:prstGeom>
          <a:noFill/>
        </p:spPr>
        <p:txBody>
          <a:bodyPr wrap="square" rtlCol="0">
            <a:spAutoFit/>
          </a:bodyPr>
          <a:lstStyle/>
          <a:p>
            <a:r>
              <a:rPr lang="es-CO" sz="1400" dirty="0" smtClean="0"/>
              <a:t>Tomar la data descriptiva de las emociones para los rangos de edades jóvenes de 18-25 y 25-35 años del Estudio y multiplicarla por el peso especifico de estos rangos en la muestra y sumar este resultado de los 2 rangos</a:t>
            </a:r>
            <a:endParaRPr lang="es-CO" sz="1400" dirty="0"/>
          </a:p>
        </p:txBody>
      </p:sp>
      <p:pic>
        <p:nvPicPr>
          <p:cNvPr id="15" name="Imagen 14"/>
          <p:cNvPicPr>
            <a:picLocks noChangeAspect="1"/>
          </p:cNvPicPr>
          <p:nvPr/>
        </p:nvPicPr>
        <p:blipFill>
          <a:blip r:embed="rId6"/>
          <a:stretch>
            <a:fillRect/>
          </a:stretch>
        </p:blipFill>
        <p:spPr>
          <a:xfrm>
            <a:off x="507526" y="4793173"/>
            <a:ext cx="1095802" cy="676275"/>
          </a:xfrm>
          <a:prstGeom prst="rect">
            <a:avLst/>
          </a:prstGeom>
          <a:ln>
            <a:solidFill>
              <a:schemeClr val="tx1"/>
            </a:solidFill>
          </a:ln>
        </p:spPr>
      </p:pic>
      <p:sp>
        <p:nvSpPr>
          <p:cNvPr id="16" name="CuadroTexto 15"/>
          <p:cNvSpPr txBox="1"/>
          <p:nvPr/>
        </p:nvSpPr>
        <p:spPr>
          <a:xfrm>
            <a:off x="1719616" y="4654258"/>
            <a:ext cx="4572001" cy="954107"/>
          </a:xfrm>
          <a:prstGeom prst="rect">
            <a:avLst/>
          </a:prstGeom>
          <a:noFill/>
        </p:spPr>
        <p:txBody>
          <a:bodyPr wrap="square" rtlCol="0">
            <a:spAutoFit/>
          </a:bodyPr>
          <a:lstStyle/>
          <a:p>
            <a:r>
              <a:rPr lang="es-CO" sz="1400" dirty="0" smtClean="0"/>
              <a:t>Tomar la data descriptiva de las emociones para los rangos de edades adultos  de 35-55 y mayores de 55  años del Estudio y multiplicarla por el peso especifico de estos rangos en la muestra y sumar este resultado de los 2 rangos</a:t>
            </a:r>
            <a:endParaRPr lang="es-CO" sz="1400" dirty="0"/>
          </a:p>
        </p:txBody>
      </p:sp>
      <p:pic>
        <p:nvPicPr>
          <p:cNvPr id="17" name="Imagen 16"/>
          <p:cNvPicPr>
            <a:picLocks noChangeAspect="1"/>
          </p:cNvPicPr>
          <p:nvPr/>
        </p:nvPicPr>
        <p:blipFill>
          <a:blip r:embed="rId7"/>
          <a:stretch>
            <a:fillRect/>
          </a:stretch>
        </p:blipFill>
        <p:spPr>
          <a:xfrm>
            <a:off x="507526" y="5799267"/>
            <a:ext cx="1113998" cy="695325"/>
          </a:xfrm>
          <a:prstGeom prst="rect">
            <a:avLst/>
          </a:prstGeom>
          <a:ln>
            <a:solidFill>
              <a:schemeClr val="tx1"/>
            </a:solidFill>
          </a:ln>
        </p:spPr>
      </p:pic>
      <p:sp>
        <p:nvSpPr>
          <p:cNvPr id="18" name="CuadroTexto 17"/>
          <p:cNvSpPr txBox="1"/>
          <p:nvPr/>
        </p:nvSpPr>
        <p:spPr>
          <a:xfrm>
            <a:off x="1719615" y="5639636"/>
            <a:ext cx="4572001" cy="954107"/>
          </a:xfrm>
          <a:prstGeom prst="rect">
            <a:avLst/>
          </a:prstGeom>
          <a:noFill/>
        </p:spPr>
        <p:txBody>
          <a:bodyPr wrap="square" rtlCol="0">
            <a:spAutoFit/>
          </a:bodyPr>
          <a:lstStyle/>
          <a:p>
            <a:r>
              <a:rPr lang="es-CO" sz="1400" dirty="0" smtClean="0"/>
              <a:t>Tomar la data descriptiva de las emociones para las zonas geográficas de la distribución muestral del Estudio y multiplicarla por el peso especifico de estos zonas en la muestra y sumar este resultado de las 6 zonas geográficas</a:t>
            </a:r>
            <a:endParaRPr lang="es-CO" sz="1400" dirty="0"/>
          </a:p>
        </p:txBody>
      </p:sp>
      <p:pic>
        <p:nvPicPr>
          <p:cNvPr id="19" name="Imagen 18"/>
          <p:cNvPicPr>
            <a:picLocks noChangeAspect="1"/>
          </p:cNvPicPr>
          <p:nvPr/>
        </p:nvPicPr>
        <p:blipFill>
          <a:blip r:embed="rId8"/>
          <a:stretch>
            <a:fillRect/>
          </a:stretch>
        </p:blipFill>
        <p:spPr>
          <a:xfrm>
            <a:off x="6697211" y="824569"/>
            <a:ext cx="1152525" cy="628650"/>
          </a:xfrm>
          <a:prstGeom prst="rect">
            <a:avLst/>
          </a:prstGeom>
          <a:ln>
            <a:solidFill>
              <a:schemeClr val="tx1"/>
            </a:solidFill>
          </a:ln>
        </p:spPr>
      </p:pic>
      <p:sp>
        <p:nvSpPr>
          <p:cNvPr id="20" name="CuadroTexto 19"/>
          <p:cNvSpPr txBox="1"/>
          <p:nvPr/>
        </p:nvSpPr>
        <p:spPr>
          <a:xfrm>
            <a:off x="8081748" y="336587"/>
            <a:ext cx="3955578" cy="1815882"/>
          </a:xfrm>
          <a:prstGeom prst="rect">
            <a:avLst/>
          </a:prstGeom>
          <a:noFill/>
        </p:spPr>
        <p:txBody>
          <a:bodyPr wrap="square" rtlCol="0">
            <a:spAutoFit/>
          </a:bodyPr>
          <a:lstStyle/>
          <a:p>
            <a:r>
              <a:rPr lang="es-CO" sz="1400" dirty="0" smtClean="0"/>
              <a:t>Tomar la data descriptiva de las emociones donde primero se suman la métrica emocional estratificada total + la métrica etaria toral  a ese resultado se le suma la métrica del peso de la emoción geográfica dividida en número de zonas (6). Este resultado se divide en la variables demográficas del estudio (3). Por ultimo se divide en número de emociones del estudio (11)</a:t>
            </a:r>
            <a:endParaRPr lang="es-CO" sz="1400" dirty="0"/>
          </a:p>
        </p:txBody>
      </p:sp>
      <p:pic>
        <p:nvPicPr>
          <p:cNvPr id="21" name="Imagen 20"/>
          <p:cNvPicPr>
            <a:picLocks noChangeAspect="1"/>
          </p:cNvPicPr>
          <p:nvPr/>
        </p:nvPicPr>
        <p:blipFill>
          <a:blip r:embed="rId9"/>
          <a:stretch>
            <a:fillRect/>
          </a:stretch>
        </p:blipFill>
        <p:spPr>
          <a:xfrm>
            <a:off x="6820040" y="2869439"/>
            <a:ext cx="1152525" cy="647700"/>
          </a:xfrm>
          <a:prstGeom prst="rect">
            <a:avLst/>
          </a:prstGeom>
          <a:ln>
            <a:solidFill>
              <a:schemeClr val="tx1"/>
            </a:solidFill>
          </a:ln>
        </p:spPr>
      </p:pic>
      <p:sp>
        <p:nvSpPr>
          <p:cNvPr id="22" name="CuadroTexto 21"/>
          <p:cNvSpPr txBox="1"/>
          <p:nvPr/>
        </p:nvSpPr>
        <p:spPr>
          <a:xfrm>
            <a:off x="8107475" y="2415010"/>
            <a:ext cx="3929851" cy="1600438"/>
          </a:xfrm>
          <a:prstGeom prst="rect">
            <a:avLst/>
          </a:prstGeom>
          <a:noFill/>
        </p:spPr>
        <p:txBody>
          <a:bodyPr wrap="square" rtlCol="0">
            <a:spAutoFit/>
          </a:bodyPr>
          <a:lstStyle/>
          <a:p>
            <a:r>
              <a:rPr lang="es-CO" sz="1400" dirty="0" smtClean="0"/>
              <a:t>Es la sumatoria de la emoción estratificada total + la emoción etaria total + el peso total de emoción geográfica del estudio + el peso especifico  de la emoción psicográfica del estudio luego se divide en numero de variables verificadas en el estudio (4). </a:t>
            </a:r>
            <a:r>
              <a:rPr lang="es-CO" sz="1400" dirty="0" smtClean="0"/>
              <a:t>Por ultimo se divide en número de emociones del estudio (11)</a:t>
            </a:r>
            <a:endParaRPr lang="es-CO" sz="1400" dirty="0"/>
          </a:p>
        </p:txBody>
      </p:sp>
      <p:pic>
        <p:nvPicPr>
          <p:cNvPr id="23" name="Imagen 22"/>
          <p:cNvPicPr>
            <a:picLocks noChangeAspect="1"/>
          </p:cNvPicPr>
          <p:nvPr/>
        </p:nvPicPr>
        <p:blipFill>
          <a:blip r:embed="rId10"/>
          <a:stretch>
            <a:fillRect/>
          </a:stretch>
        </p:blipFill>
        <p:spPr>
          <a:xfrm>
            <a:off x="6821035" y="4464560"/>
            <a:ext cx="1151530" cy="666750"/>
          </a:xfrm>
          <a:prstGeom prst="rect">
            <a:avLst/>
          </a:prstGeom>
          <a:ln>
            <a:solidFill>
              <a:schemeClr val="tx1"/>
            </a:solidFill>
          </a:ln>
        </p:spPr>
      </p:pic>
      <p:sp>
        <p:nvSpPr>
          <p:cNvPr id="24" name="CuadroTexto 23"/>
          <p:cNvSpPr txBox="1"/>
          <p:nvPr/>
        </p:nvSpPr>
        <p:spPr>
          <a:xfrm>
            <a:off x="8107475" y="4154553"/>
            <a:ext cx="3929851" cy="1384995"/>
          </a:xfrm>
          <a:prstGeom prst="rect">
            <a:avLst/>
          </a:prstGeom>
          <a:noFill/>
        </p:spPr>
        <p:txBody>
          <a:bodyPr wrap="square" rtlCol="0">
            <a:spAutoFit/>
          </a:bodyPr>
          <a:lstStyle/>
          <a:p>
            <a:r>
              <a:rPr lang="es-CO" sz="1400" dirty="0" smtClean="0"/>
              <a:t>Es la sumatoria de la  el peso total de emoción geográfica del estudio + el peso especifico  de la emoción psicográfica + el peso especifico de la emoción en la sociedad del estudio. luego se divide </a:t>
            </a:r>
            <a:r>
              <a:rPr lang="es-CO" sz="1400" dirty="0" smtClean="0"/>
              <a:t>Por ultimo se divide en número de emociones del estudio restando la emoción en cuestión (n-1=10)</a:t>
            </a:r>
            <a:endParaRPr lang="es-CO" sz="1400" dirty="0"/>
          </a:p>
        </p:txBody>
      </p:sp>
      <p:pic>
        <p:nvPicPr>
          <p:cNvPr id="25" name="Imagen 24"/>
          <p:cNvPicPr>
            <a:picLocks noChangeAspect="1"/>
          </p:cNvPicPr>
          <p:nvPr/>
        </p:nvPicPr>
        <p:blipFill>
          <a:blip r:embed="rId11"/>
          <a:stretch>
            <a:fillRect/>
          </a:stretch>
        </p:blipFill>
        <p:spPr>
          <a:xfrm>
            <a:off x="6860981" y="5735831"/>
            <a:ext cx="1111584" cy="685800"/>
          </a:xfrm>
          <a:prstGeom prst="rect">
            <a:avLst/>
          </a:prstGeom>
          <a:ln>
            <a:solidFill>
              <a:schemeClr val="tx1"/>
            </a:solidFill>
          </a:ln>
        </p:spPr>
      </p:pic>
      <p:sp>
        <p:nvSpPr>
          <p:cNvPr id="26" name="CuadroTexto 25"/>
          <p:cNvSpPr txBox="1"/>
          <p:nvPr/>
        </p:nvSpPr>
        <p:spPr>
          <a:xfrm>
            <a:off x="8107475" y="5693856"/>
            <a:ext cx="3929851" cy="954107"/>
          </a:xfrm>
          <a:prstGeom prst="rect">
            <a:avLst/>
          </a:prstGeom>
          <a:noFill/>
        </p:spPr>
        <p:txBody>
          <a:bodyPr wrap="square" rtlCol="0">
            <a:spAutoFit/>
          </a:bodyPr>
          <a:lstStyle/>
          <a:p>
            <a:r>
              <a:rPr lang="es-CO" sz="1400" dirty="0" smtClean="0"/>
              <a:t>Tomando la base de la respuestas validas de los encuestados en la pregunta de emociones se calcula el margen de error especifico para esta cuestión con un nivel de confianza del 95%.</a:t>
            </a:r>
            <a:endParaRPr lang="es-CO" sz="1400" dirty="0"/>
          </a:p>
        </p:txBody>
      </p:sp>
      <p:pic>
        <p:nvPicPr>
          <p:cNvPr id="27" name="Imagen 26"/>
          <p:cNvPicPr>
            <a:picLocks noChangeAspect="1"/>
          </p:cNvPicPr>
          <p:nvPr/>
        </p:nvPicPr>
        <p:blipFill>
          <a:blip r:embed="rId12"/>
          <a:stretch>
            <a:fillRect/>
          </a:stretch>
        </p:blipFill>
        <p:spPr>
          <a:xfrm>
            <a:off x="643963" y="2272361"/>
            <a:ext cx="822928" cy="537140"/>
          </a:xfrm>
          <a:prstGeom prst="rect">
            <a:avLst/>
          </a:prstGeom>
          <a:ln>
            <a:solidFill>
              <a:schemeClr val="tx1"/>
            </a:solidFill>
          </a:ln>
        </p:spPr>
      </p:pic>
    </p:spTree>
    <p:extLst>
      <p:ext uri="{BB962C8B-B14F-4D97-AF65-F5344CB8AC3E}">
        <p14:creationId xmlns:p14="http://schemas.microsoft.com/office/powerpoint/2010/main" val="105653461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TotalTime>
  <Words>442</Words>
  <Application>Microsoft Office PowerPoint</Application>
  <PresentationFormat>Panorámica</PresentationFormat>
  <Paragraphs>10</Paragraphs>
  <Slides>1</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vt:i4>
      </vt:variant>
    </vt:vector>
  </HeadingPairs>
  <TitlesOfParts>
    <vt:vector size="5" baseType="lpstr">
      <vt:lpstr>Arial</vt:lpstr>
      <vt:lpstr>Calibri</vt:lpstr>
      <vt:lpstr>Calibri Light</vt:lpstr>
      <vt:lpstr>Tema de Office</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Equipo</dc:creator>
  <cp:lastModifiedBy>Equipo</cp:lastModifiedBy>
  <cp:revision>5</cp:revision>
  <dcterms:created xsi:type="dcterms:W3CDTF">2025-05-18T18:47:53Z</dcterms:created>
  <dcterms:modified xsi:type="dcterms:W3CDTF">2025-05-18T19:57:07Z</dcterms:modified>
</cp:coreProperties>
</file>